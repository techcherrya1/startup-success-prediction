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DM Sans" charset="1" panose="00000000000000000000"/>
      <p:regular r:id="rId17"/>
    </p:embeddedFont>
    <p:embeddedFont>
      <p:font typeface="DM Sans Bol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notesSlides/notesSlide2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notesSlides/notesSlide7.xml" Type="http://schemas.openxmlformats.org/officeDocument/2006/relationships/notesSlide"/><Relationship Id="rId25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4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4.jpe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4.jpeg" Type="http://schemas.openxmlformats.org/officeDocument/2006/relationships/image"/><Relationship Id="rId5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4.jpe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4.jpe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24.png" Type="http://schemas.openxmlformats.org/officeDocument/2006/relationships/image"/><Relationship Id="rId12" Target="../media/image25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2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3345361"/>
            <a:ext cx="9445523" cy="179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9C5461"/>
                </a:solidFill>
                <a:latin typeface="DM Sans"/>
                <a:ea typeface="DM Sans"/>
                <a:cs typeface="DM Sans"/>
                <a:sym typeface="DM Sans"/>
              </a:rPr>
              <a:t>Startup Success Prediction Using Machine Learning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5466312"/>
            <a:ext cx="9445523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Applying ML to forecast whether a startup will achieve an IPO, Acquisition, or Failure — empowering investors and entrepreneurs with data-driven insight.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7476" y="837009"/>
            <a:ext cx="2549281" cy="528342"/>
            <a:chOff x="0" y="0"/>
            <a:chExt cx="3399041" cy="7044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99028" cy="704469"/>
            </a:xfrm>
            <a:custGeom>
              <a:avLst/>
              <a:gdLst/>
              <a:ahLst/>
              <a:cxnLst/>
              <a:rect r="r" b="b" t="t" l="l"/>
              <a:pathLst>
                <a:path h="704469" w="3399028">
                  <a:moveTo>
                    <a:pt x="0" y="264160"/>
                  </a:moveTo>
                  <a:cubicBezTo>
                    <a:pt x="0" y="118237"/>
                    <a:pt x="118237" y="0"/>
                    <a:pt x="264160" y="0"/>
                  </a:cubicBezTo>
                  <a:lnTo>
                    <a:pt x="3134868" y="0"/>
                  </a:lnTo>
                  <a:cubicBezTo>
                    <a:pt x="3280791" y="0"/>
                    <a:pt x="3399028" y="118237"/>
                    <a:pt x="3399028" y="264160"/>
                  </a:cubicBezTo>
                  <a:lnTo>
                    <a:pt x="3399028" y="440309"/>
                  </a:lnTo>
                  <a:cubicBezTo>
                    <a:pt x="3399028" y="586232"/>
                    <a:pt x="3280791" y="704469"/>
                    <a:pt x="3134868" y="704469"/>
                  </a:cubicBezTo>
                  <a:lnTo>
                    <a:pt x="264160" y="704469"/>
                  </a:lnTo>
                  <a:cubicBezTo>
                    <a:pt x="118237" y="704469"/>
                    <a:pt x="0" y="586105"/>
                    <a:pt x="0" y="440309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015" r="0" b="-44013"/>
              </a:stretch>
            </a:blipFill>
            <a:ln w="9526" cap="sq">
              <a:solidFill>
                <a:srgbClr val="FFC7CD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63841" y="875109"/>
            <a:ext cx="3110951" cy="394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2"/>
              </a:lnSpc>
            </a:pPr>
            <a:r>
              <a:rPr lang="en-US" sz="1700">
                <a:solidFill>
                  <a:srgbClr val="FFC7CD"/>
                </a:solidFill>
                <a:latin typeface="DM Sans"/>
                <a:ea typeface="DM Sans"/>
                <a:cs typeface="DM Sans"/>
                <a:sym typeface="DM Sans"/>
              </a:rPr>
              <a:t>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434998"/>
            <a:ext cx="14820900" cy="873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4"/>
              </a:lnSpc>
            </a:pPr>
            <a:r>
              <a:rPr lang="en-US" sz="5299">
                <a:solidFill>
                  <a:srgbClr val="9C5461"/>
                </a:solidFill>
                <a:latin typeface="DM Sans"/>
                <a:ea typeface="DM Sans"/>
                <a:cs typeface="DM Sans"/>
                <a:sym typeface="DM Sans"/>
              </a:rPr>
              <a:t>Why Predicting Startup Outcomes Matters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38" y="3132687"/>
            <a:ext cx="10366477" cy="5874248"/>
            <a:chOff x="0" y="0"/>
            <a:chExt cx="13821969" cy="7832331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3821918" cy="7832344"/>
            </a:xfrm>
            <a:custGeom>
              <a:avLst/>
              <a:gdLst/>
              <a:ahLst/>
              <a:cxnLst/>
              <a:rect r="r" b="b" t="t" l="l"/>
              <a:pathLst>
                <a:path h="7832344" w="13821918">
                  <a:moveTo>
                    <a:pt x="0" y="0"/>
                  </a:moveTo>
                  <a:lnTo>
                    <a:pt x="13821918" y="0"/>
                  </a:lnTo>
                  <a:lnTo>
                    <a:pt x="13821918" y="7832344"/>
                  </a:lnTo>
                  <a:lnTo>
                    <a:pt x="0" y="7832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" t="0" r="-7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027541" y="2942482"/>
            <a:ext cx="4292356" cy="431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9C5461"/>
                </a:solidFill>
                <a:latin typeface="DM Sans"/>
                <a:ea typeface="DM Sans"/>
                <a:cs typeface="DM Sans"/>
                <a:sym typeface="DM Sans"/>
              </a:rPr>
              <a:t>The Challenge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27541" y="3555502"/>
            <a:ext cx="5277593" cy="260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Startups frequently fail due to poor decision-making, unfavorable market conditions, and insufficient planning. Investors and founders lack reliable tools to assess a venture's potential before committing resources.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27541" y="6413002"/>
            <a:ext cx="4292356" cy="431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9C5461"/>
                </a:solidFill>
                <a:latin typeface="DM Sans"/>
                <a:ea typeface="DM Sans"/>
                <a:cs typeface="DM Sans"/>
                <a:sym typeface="DM Sans"/>
              </a:rPr>
              <a:t>The Objective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27541" y="7026031"/>
            <a:ext cx="5277593" cy="2187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Build a Machine Learning model that predicts whether a startup will result in an </a:t>
            </a:r>
            <a:r>
              <a:rPr lang="en-US" sz="2100" b="true">
                <a:solidFill>
                  <a:srgbClr val="4A4A4A"/>
                </a:solidFill>
                <a:latin typeface="DM Sans Bold"/>
                <a:ea typeface="DM Sans Bold"/>
                <a:cs typeface="DM Sans Bold"/>
                <a:sym typeface="DM Sans Bold"/>
              </a:rPr>
              <a:t>IPO</a:t>
            </a:r>
            <a:r>
              <a:rPr lang="en-US" sz="21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2100" b="true">
                <a:solidFill>
                  <a:srgbClr val="4A4A4A"/>
                </a:solidFill>
                <a:latin typeface="DM Sans Bold"/>
                <a:ea typeface="DM Sans Bold"/>
                <a:cs typeface="DM Sans Bold"/>
                <a:sym typeface="DM Sans Bold"/>
              </a:rPr>
              <a:t>Acquisition</a:t>
            </a:r>
            <a:r>
              <a:rPr lang="en-US" sz="21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, or </a:t>
            </a:r>
            <a:r>
              <a:rPr lang="en-US" sz="2100" b="true">
                <a:solidFill>
                  <a:srgbClr val="4A4A4A"/>
                </a:solidFill>
                <a:latin typeface="DM Sans Bold"/>
                <a:ea typeface="DM Sans Bold"/>
                <a:cs typeface="DM Sans Bold"/>
                <a:sym typeface="DM Sans Bold"/>
              </a:rPr>
              <a:t>Failure</a:t>
            </a:r>
            <a:r>
              <a:rPr lang="en-US" sz="21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 — giving stakeholders an actionable, data-driven signal.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7476" y="1688754"/>
            <a:ext cx="2482005" cy="561384"/>
            <a:chOff x="0" y="0"/>
            <a:chExt cx="3309341" cy="7485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09366" cy="748411"/>
            </a:xfrm>
            <a:custGeom>
              <a:avLst/>
              <a:gdLst/>
              <a:ahLst/>
              <a:cxnLst/>
              <a:rect r="r" b="b" t="t" l="l"/>
              <a:pathLst>
                <a:path h="748411" w="3309366">
                  <a:moveTo>
                    <a:pt x="0" y="276860"/>
                  </a:moveTo>
                  <a:cubicBezTo>
                    <a:pt x="0" y="123952"/>
                    <a:pt x="123952" y="0"/>
                    <a:pt x="276860" y="0"/>
                  </a:cubicBezTo>
                  <a:lnTo>
                    <a:pt x="3032506" y="0"/>
                  </a:lnTo>
                  <a:cubicBezTo>
                    <a:pt x="3185414" y="0"/>
                    <a:pt x="3309366" y="123952"/>
                    <a:pt x="3309366" y="276860"/>
                  </a:cubicBezTo>
                  <a:lnTo>
                    <a:pt x="3309366" y="471551"/>
                  </a:lnTo>
                  <a:cubicBezTo>
                    <a:pt x="3309366" y="624459"/>
                    <a:pt x="3185414" y="748411"/>
                    <a:pt x="3032506" y="748411"/>
                  </a:cubicBezTo>
                  <a:lnTo>
                    <a:pt x="276860" y="748411"/>
                  </a:lnTo>
                  <a:cubicBezTo>
                    <a:pt x="123952" y="748538"/>
                    <a:pt x="0" y="624586"/>
                    <a:pt x="0" y="471551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152" r="0" b="-36166"/>
              </a:stretch>
            </a:blipFill>
            <a:ln w="9526" cap="sq">
              <a:solidFill>
                <a:srgbClr val="FFC7CD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71870" y="1721348"/>
            <a:ext cx="3027607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FFC7CD"/>
                </a:solidFill>
                <a:latin typeface="DM Sans"/>
                <a:ea typeface="DM Sans"/>
                <a:cs typeface="DM Sans"/>
                <a:sym typeface="DM Sans"/>
              </a:rPr>
              <a:t>DATASET 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2339731"/>
            <a:ext cx="9055598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9C5461"/>
                </a:solidFill>
                <a:latin typeface="DM Sans"/>
                <a:ea typeface="DM Sans"/>
                <a:cs typeface="DM Sans"/>
                <a:sym typeface="DM Sans"/>
              </a:rPr>
              <a:t>Understanding the Data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3954513"/>
            <a:ext cx="5198269" cy="79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0"/>
              </a:lnSpc>
            </a:pPr>
            <a:r>
              <a:rPr lang="en-US" sz="73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100K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19275" y="5092008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Records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5619302"/>
            <a:ext cx="5198269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</a:pPr>
            <a:r>
              <a:rPr lang="en-US" sz="22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Startup entries in the dataset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44866" y="3954513"/>
            <a:ext cx="5198269" cy="79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0"/>
              </a:lnSpc>
            </a:pPr>
            <a:r>
              <a:rPr lang="en-US" sz="73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11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71902" y="5092008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Features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44866" y="5619302"/>
            <a:ext cx="5198269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</a:pPr>
            <a:r>
              <a:rPr lang="en-US" sz="22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Predictor variables per record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97493" y="3954513"/>
            <a:ext cx="5198269" cy="79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0"/>
              </a:lnSpc>
            </a:pPr>
            <a:r>
              <a:rPr lang="en-US" sz="73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24530" y="5092008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Outcomes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97493" y="5619302"/>
            <a:ext cx="5198269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</a:pPr>
            <a:r>
              <a:rPr lang="en-US" sz="22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IPO, Acquisition, or Failure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87476" y="6482353"/>
            <a:ext cx="5254971" cy="2115893"/>
            <a:chOff x="0" y="0"/>
            <a:chExt cx="7006628" cy="28211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06589" cy="2821178"/>
            </a:xfrm>
            <a:custGeom>
              <a:avLst/>
              <a:gdLst/>
              <a:ahLst/>
              <a:cxnLst/>
              <a:rect r="r" b="b" t="t" l="l"/>
              <a:pathLst>
                <a:path h="2821178" w="7006589">
                  <a:moveTo>
                    <a:pt x="0" y="341757"/>
                  </a:moveTo>
                  <a:cubicBezTo>
                    <a:pt x="0" y="153035"/>
                    <a:pt x="153035" y="0"/>
                    <a:pt x="341757" y="0"/>
                  </a:cubicBezTo>
                  <a:lnTo>
                    <a:pt x="6664833" y="0"/>
                  </a:lnTo>
                  <a:cubicBezTo>
                    <a:pt x="6853555" y="0"/>
                    <a:pt x="7006589" y="153035"/>
                    <a:pt x="7006589" y="341757"/>
                  </a:cubicBezTo>
                  <a:lnTo>
                    <a:pt x="7006589" y="2479421"/>
                  </a:lnTo>
                  <a:cubicBezTo>
                    <a:pt x="7006589" y="2668143"/>
                    <a:pt x="6853555" y="2821178"/>
                    <a:pt x="6664833" y="2821178"/>
                  </a:cubicBezTo>
                  <a:lnTo>
                    <a:pt x="341757" y="2821178"/>
                  </a:lnTo>
                  <a:cubicBezTo>
                    <a:pt x="153035" y="2821178"/>
                    <a:pt x="0" y="2668143"/>
                    <a:pt x="0" y="2479421"/>
                  </a:cubicBezTo>
                  <a:close/>
                </a:path>
              </a:pathLst>
            </a:custGeom>
            <a:solidFill>
              <a:srgbClr val="FFCCD1"/>
            </a:solidFill>
            <a:ln w="9526" cap="sq">
              <a:solidFill>
                <a:srgbClr val="E5B2B7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85284" y="6770637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Funding &amp; Finance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5284" y="7297941"/>
            <a:ext cx="4659363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Funding Rounds · Revenue · Burn Rate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516443" y="6482353"/>
            <a:ext cx="5254971" cy="2115893"/>
            <a:chOff x="0" y="0"/>
            <a:chExt cx="7006628" cy="28211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06589" cy="2821178"/>
            </a:xfrm>
            <a:custGeom>
              <a:avLst/>
              <a:gdLst/>
              <a:ahLst/>
              <a:cxnLst/>
              <a:rect r="r" b="b" t="t" l="l"/>
              <a:pathLst>
                <a:path h="2821178" w="7006589">
                  <a:moveTo>
                    <a:pt x="0" y="341757"/>
                  </a:moveTo>
                  <a:cubicBezTo>
                    <a:pt x="0" y="153035"/>
                    <a:pt x="153035" y="0"/>
                    <a:pt x="341757" y="0"/>
                  </a:cubicBezTo>
                  <a:lnTo>
                    <a:pt x="6664833" y="0"/>
                  </a:lnTo>
                  <a:cubicBezTo>
                    <a:pt x="6853555" y="0"/>
                    <a:pt x="7006589" y="153035"/>
                    <a:pt x="7006589" y="341757"/>
                  </a:cubicBezTo>
                  <a:lnTo>
                    <a:pt x="7006589" y="2479421"/>
                  </a:lnTo>
                  <a:cubicBezTo>
                    <a:pt x="7006589" y="2668143"/>
                    <a:pt x="6853555" y="2821178"/>
                    <a:pt x="6664833" y="2821178"/>
                  </a:cubicBezTo>
                  <a:lnTo>
                    <a:pt x="341757" y="2821178"/>
                  </a:lnTo>
                  <a:cubicBezTo>
                    <a:pt x="153035" y="2821178"/>
                    <a:pt x="0" y="2668143"/>
                    <a:pt x="0" y="2479421"/>
                  </a:cubicBezTo>
                  <a:close/>
                </a:path>
              </a:pathLst>
            </a:custGeom>
            <a:solidFill>
              <a:srgbClr val="FFCCD1"/>
            </a:solidFill>
            <a:ln w="9526" cap="sq">
              <a:solidFill>
                <a:srgbClr val="E5B2B7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6814242" y="6770637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Team &amp; Leadership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14242" y="7297941"/>
            <a:ext cx="4659363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Team Size · Founder Experience · Founder Background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045401" y="6482353"/>
            <a:ext cx="5254971" cy="2115893"/>
            <a:chOff x="0" y="0"/>
            <a:chExt cx="7006628" cy="282119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006589" cy="2821178"/>
            </a:xfrm>
            <a:custGeom>
              <a:avLst/>
              <a:gdLst/>
              <a:ahLst/>
              <a:cxnLst/>
              <a:rect r="r" b="b" t="t" l="l"/>
              <a:pathLst>
                <a:path h="2821178" w="7006589">
                  <a:moveTo>
                    <a:pt x="0" y="341757"/>
                  </a:moveTo>
                  <a:cubicBezTo>
                    <a:pt x="0" y="153035"/>
                    <a:pt x="153035" y="0"/>
                    <a:pt x="341757" y="0"/>
                  </a:cubicBezTo>
                  <a:lnTo>
                    <a:pt x="6664833" y="0"/>
                  </a:lnTo>
                  <a:cubicBezTo>
                    <a:pt x="6853555" y="0"/>
                    <a:pt x="7006589" y="153035"/>
                    <a:pt x="7006589" y="341757"/>
                  </a:cubicBezTo>
                  <a:lnTo>
                    <a:pt x="7006589" y="2479421"/>
                  </a:lnTo>
                  <a:cubicBezTo>
                    <a:pt x="7006589" y="2668143"/>
                    <a:pt x="6853555" y="2821178"/>
                    <a:pt x="6664833" y="2821178"/>
                  </a:cubicBezTo>
                  <a:lnTo>
                    <a:pt x="341757" y="2821178"/>
                  </a:lnTo>
                  <a:cubicBezTo>
                    <a:pt x="153035" y="2821178"/>
                    <a:pt x="0" y="2668143"/>
                    <a:pt x="0" y="2479421"/>
                  </a:cubicBezTo>
                  <a:close/>
                </a:path>
              </a:pathLst>
            </a:custGeom>
            <a:solidFill>
              <a:srgbClr val="FFCCD1"/>
            </a:solidFill>
            <a:ln w="9526" cap="sq">
              <a:solidFill>
                <a:srgbClr val="E5B2B7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2343209" y="6770637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Market &amp; Product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43209" y="7297941"/>
            <a:ext cx="4659363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Market Size · Product Traction · Sector · Investor Type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91368" y="774944"/>
            <a:ext cx="2228107" cy="433835"/>
            <a:chOff x="0" y="0"/>
            <a:chExt cx="2970809" cy="5784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70784" cy="578358"/>
            </a:xfrm>
            <a:custGeom>
              <a:avLst/>
              <a:gdLst/>
              <a:ahLst/>
              <a:cxnLst/>
              <a:rect r="r" b="b" t="t" l="l"/>
              <a:pathLst>
                <a:path h="578358" w="2970784">
                  <a:moveTo>
                    <a:pt x="0" y="226060"/>
                  </a:moveTo>
                  <a:cubicBezTo>
                    <a:pt x="0" y="101219"/>
                    <a:pt x="101219" y="0"/>
                    <a:pt x="226060" y="0"/>
                  </a:cubicBezTo>
                  <a:lnTo>
                    <a:pt x="2744724" y="0"/>
                  </a:lnTo>
                  <a:cubicBezTo>
                    <a:pt x="2869565" y="0"/>
                    <a:pt x="2970784" y="101219"/>
                    <a:pt x="2970784" y="226060"/>
                  </a:cubicBezTo>
                  <a:lnTo>
                    <a:pt x="2970784" y="352298"/>
                  </a:lnTo>
                  <a:cubicBezTo>
                    <a:pt x="2970784" y="477139"/>
                    <a:pt x="2869565" y="578358"/>
                    <a:pt x="2744724" y="578358"/>
                  </a:cubicBezTo>
                  <a:lnTo>
                    <a:pt x="226060" y="578358"/>
                  </a:lnTo>
                  <a:cubicBezTo>
                    <a:pt x="101219" y="578485"/>
                    <a:pt x="0" y="477266"/>
                    <a:pt x="0" y="352298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079" r="0" b="-50095"/>
              </a:stretch>
            </a:blipFill>
            <a:ln w="9526" cap="sq">
              <a:solidFill>
                <a:srgbClr val="FFC7CD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343768" y="820188"/>
            <a:ext cx="2837707" cy="305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2"/>
              </a:lnSpc>
            </a:pPr>
            <a:r>
              <a:rPr lang="en-US" sz="1399">
                <a:solidFill>
                  <a:srgbClr val="FFC7CD"/>
                </a:solidFill>
                <a:latin typeface="DM Sans"/>
                <a:ea typeface="DM Sans"/>
                <a:cs typeface="DM Sans"/>
                <a:sym typeface="DM Sans"/>
              </a:rPr>
              <a:t>DATA PREPROCESSING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6130" y="1250309"/>
            <a:ext cx="9710137" cy="74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4500">
                <a:solidFill>
                  <a:srgbClr val="9C5461"/>
                </a:solidFill>
                <a:latin typeface="DM Sans"/>
                <a:ea typeface="DM Sans"/>
                <a:cs typeface="DM Sans"/>
                <a:sym typeface="DM Sans"/>
              </a:rPr>
              <a:t>Preparing the Data for Modeling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96130" y="3021654"/>
            <a:ext cx="10135343" cy="5743280"/>
            <a:chOff x="0" y="0"/>
            <a:chExt cx="13513791" cy="7657706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3513815" cy="7657719"/>
            </a:xfrm>
            <a:custGeom>
              <a:avLst/>
              <a:gdLst/>
              <a:ahLst/>
              <a:cxnLst/>
              <a:rect r="r" b="b" t="t" l="l"/>
              <a:pathLst>
                <a:path h="7657719" w="13513815">
                  <a:moveTo>
                    <a:pt x="0" y="0"/>
                  </a:moveTo>
                  <a:lnTo>
                    <a:pt x="13513815" y="0"/>
                  </a:lnTo>
                  <a:lnTo>
                    <a:pt x="13513815" y="7657719"/>
                  </a:lnTo>
                  <a:lnTo>
                    <a:pt x="0" y="76577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0" t="0" r="-4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902973" y="2489892"/>
            <a:ext cx="460619" cy="287836"/>
            <a:chOff x="0" y="0"/>
            <a:chExt cx="614159" cy="3837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4165" cy="383779"/>
            </a:xfrm>
            <a:custGeom>
              <a:avLst/>
              <a:gdLst/>
              <a:ahLst/>
              <a:cxnLst/>
              <a:rect r="r" b="b" t="t" l="l"/>
              <a:pathLst>
                <a:path h="383779" w="614165">
                  <a:moveTo>
                    <a:pt x="0" y="0"/>
                  </a:moveTo>
                  <a:lnTo>
                    <a:pt x="614165" y="0"/>
                  </a:lnTo>
                  <a:lnTo>
                    <a:pt x="614165" y="383779"/>
                  </a:lnTo>
                  <a:lnTo>
                    <a:pt x="0" y="38377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75" t="0" r="-30174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614159" cy="3837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4A4A"/>
                  </a:solidFill>
                  <a:latin typeface="DM Sans"/>
                  <a:ea typeface="DM Sans"/>
                  <a:cs typeface="DM Sans"/>
                  <a:sym typeface="DM Sans"/>
                </a:rPr>
                <a:t>01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902973" y="2852585"/>
            <a:ext cx="5198116" cy="28575"/>
            <a:chOff x="0" y="0"/>
            <a:chExt cx="6930822" cy="3810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6930771" cy="38100"/>
            </a:xfrm>
            <a:custGeom>
              <a:avLst/>
              <a:gdLst/>
              <a:ahLst/>
              <a:cxnLst/>
              <a:rect r="r" b="b" t="t" l="l"/>
              <a:pathLst>
                <a:path h="38100" w="6930771">
                  <a:moveTo>
                    <a:pt x="0" y="0"/>
                  </a:moveTo>
                  <a:lnTo>
                    <a:pt x="6930771" y="0"/>
                  </a:lnTo>
                  <a:lnTo>
                    <a:pt x="6930771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6" t="0" r="-26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902973" y="3005728"/>
            <a:ext cx="2879522" cy="37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Missing Value Check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02973" y="3524098"/>
            <a:ext cx="5198116" cy="1049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3"/>
              </a:lnSpc>
            </a:pPr>
            <a:r>
              <a:rPr lang="en-US" sz="18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Full audit confirmed </a:t>
            </a:r>
            <a:r>
              <a:rPr lang="en-US" sz="1800" b="true">
                <a:solidFill>
                  <a:srgbClr val="4A4A4A"/>
                </a:solidFill>
                <a:latin typeface="DM Sans Bold"/>
                <a:ea typeface="DM Sans Bold"/>
                <a:cs typeface="DM Sans Bold"/>
                <a:sym typeface="DM Sans Bold"/>
              </a:rPr>
              <a:t>no missing values</a:t>
            </a:r>
            <a:r>
              <a:rPr lang="en-US" sz="18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 across all 100,000 records — dataset was clean and ready to use.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902973" y="4933350"/>
            <a:ext cx="460619" cy="287836"/>
            <a:chOff x="0" y="0"/>
            <a:chExt cx="614159" cy="38378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14165" cy="383779"/>
            </a:xfrm>
            <a:custGeom>
              <a:avLst/>
              <a:gdLst/>
              <a:ahLst/>
              <a:cxnLst/>
              <a:rect r="r" b="b" t="t" l="l"/>
              <a:pathLst>
                <a:path h="383779" w="614165">
                  <a:moveTo>
                    <a:pt x="0" y="0"/>
                  </a:moveTo>
                  <a:lnTo>
                    <a:pt x="614165" y="0"/>
                  </a:lnTo>
                  <a:lnTo>
                    <a:pt x="614165" y="383779"/>
                  </a:lnTo>
                  <a:lnTo>
                    <a:pt x="0" y="38377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75" t="0" r="-30174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614159" cy="3837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4A4A"/>
                  </a:solidFill>
                  <a:latin typeface="DM Sans"/>
                  <a:ea typeface="DM Sans"/>
                  <a:cs typeface="DM Sans"/>
                  <a:sym typeface="DM Sans"/>
                </a:rPr>
                <a:t>02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902973" y="5271792"/>
            <a:ext cx="5198116" cy="28575"/>
            <a:chOff x="0" y="0"/>
            <a:chExt cx="6930822" cy="381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6930771" cy="38100"/>
            </a:xfrm>
            <a:custGeom>
              <a:avLst/>
              <a:gdLst/>
              <a:ahLst/>
              <a:cxnLst/>
              <a:rect r="r" b="b" t="t" l="l"/>
              <a:pathLst>
                <a:path h="38100" w="6930771">
                  <a:moveTo>
                    <a:pt x="0" y="0"/>
                  </a:moveTo>
                  <a:lnTo>
                    <a:pt x="6930771" y="0"/>
                  </a:lnTo>
                  <a:lnTo>
                    <a:pt x="6930771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6" t="0" r="-26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902973" y="5449195"/>
            <a:ext cx="2955874" cy="37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Categorical Encoding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902973" y="5967565"/>
            <a:ext cx="5198116" cy="1049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3"/>
              </a:lnSpc>
            </a:pPr>
            <a:r>
              <a:rPr lang="en-US" sz="18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Applied </a:t>
            </a:r>
            <a:r>
              <a:rPr lang="en-US" sz="1800" b="true">
                <a:solidFill>
                  <a:srgbClr val="4A4A4A"/>
                </a:solidFill>
                <a:latin typeface="DM Sans Bold"/>
                <a:ea typeface="DM Sans Bold"/>
                <a:cs typeface="DM Sans Bold"/>
                <a:sym typeface="DM Sans Bold"/>
              </a:rPr>
              <a:t>Label Encoding</a:t>
            </a:r>
            <a:r>
              <a:rPr lang="en-US" sz="18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 to convert categorical variables (Sector, Investor Type, Founder Background) into numeric form.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902973" y="7376817"/>
            <a:ext cx="460619" cy="287836"/>
            <a:chOff x="0" y="0"/>
            <a:chExt cx="614159" cy="38378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14165" cy="383779"/>
            </a:xfrm>
            <a:custGeom>
              <a:avLst/>
              <a:gdLst/>
              <a:ahLst/>
              <a:cxnLst/>
              <a:rect r="r" b="b" t="t" l="l"/>
              <a:pathLst>
                <a:path h="383779" w="614165">
                  <a:moveTo>
                    <a:pt x="0" y="0"/>
                  </a:moveTo>
                  <a:lnTo>
                    <a:pt x="614165" y="0"/>
                  </a:lnTo>
                  <a:lnTo>
                    <a:pt x="614165" y="383779"/>
                  </a:lnTo>
                  <a:lnTo>
                    <a:pt x="0" y="38377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75" t="0" r="-30174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614159" cy="3837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4A4A"/>
                  </a:solidFill>
                  <a:latin typeface="DM Sans"/>
                  <a:ea typeface="DM Sans"/>
                  <a:cs typeface="DM Sans"/>
                  <a:sym typeface="DM Sans"/>
                </a:rPr>
                <a:t>03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902973" y="7692333"/>
            <a:ext cx="5198116" cy="28575"/>
            <a:chOff x="0" y="0"/>
            <a:chExt cx="6930822" cy="38100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6930771" cy="38100"/>
            </a:xfrm>
            <a:custGeom>
              <a:avLst/>
              <a:gdLst/>
              <a:ahLst/>
              <a:cxnLst/>
              <a:rect r="r" b="b" t="t" l="l"/>
              <a:pathLst>
                <a:path h="38100" w="6930771">
                  <a:moveTo>
                    <a:pt x="0" y="0"/>
                  </a:moveTo>
                  <a:lnTo>
                    <a:pt x="6930771" y="0"/>
                  </a:lnTo>
                  <a:lnTo>
                    <a:pt x="6930771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6" t="0" r="-26" b="0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1902973" y="7892653"/>
            <a:ext cx="2879522" cy="37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Train-Test Split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902973" y="8411023"/>
            <a:ext cx="5198116" cy="715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3"/>
              </a:lnSpc>
            </a:pPr>
            <a:r>
              <a:rPr lang="en-US" sz="18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Data partitioned into </a:t>
            </a:r>
            <a:r>
              <a:rPr lang="en-US" sz="1800" b="true">
                <a:solidFill>
                  <a:srgbClr val="4A4A4A"/>
                </a:solidFill>
                <a:latin typeface="DM Sans Bold"/>
                <a:ea typeface="DM Sans Bold"/>
                <a:cs typeface="DM Sans Bold"/>
                <a:sym typeface="DM Sans Bold"/>
              </a:rPr>
              <a:t>80% Training</a:t>
            </a:r>
            <a:r>
              <a:rPr lang="en-US" sz="18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lang="en-US" sz="1800" b="true">
                <a:solidFill>
                  <a:srgbClr val="4A4A4A"/>
                </a:solidFill>
                <a:latin typeface="DM Sans Bold"/>
                <a:ea typeface="DM Sans Bold"/>
                <a:cs typeface="DM Sans Bold"/>
                <a:sym typeface="DM Sans Bold"/>
              </a:rPr>
              <a:t>20% Testing</a:t>
            </a:r>
            <a:r>
              <a:rPr lang="en-US" sz="18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 to ensure unbiased model evaluation.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7476" y="839838"/>
            <a:ext cx="3463823" cy="550221"/>
            <a:chOff x="0" y="0"/>
            <a:chExt cx="4618431" cy="7336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18482" cy="733679"/>
            </a:xfrm>
            <a:custGeom>
              <a:avLst/>
              <a:gdLst/>
              <a:ahLst/>
              <a:cxnLst/>
              <a:rect r="r" b="b" t="t" l="l"/>
              <a:pathLst>
                <a:path h="733679" w="4618482">
                  <a:moveTo>
                    <a:pt x="0" y="272669"/>
                  </a:moveTo>
                  <a:cubicBezTo>
                    <a:pt x="0" y="122047"/>
                    <a:pt x="122047" y="0"/>
                    <a:pt x="272669" y="0"/>
                  </a:cubicBezTo>
                  <a:lnTo>
                    <a:pt x="4345813" y="0"/>
                  </a:lnTo>
                  <a:cubicBezTo>
                    <a:pt x="4496435" y="0"/>
                    <a:pt x="4618482" y="122047"/>
                    <a:pt x="4618482" y="272669"/>
                  </a:cubicBezTo>
                  <a:lnTo>
                    <a:pt x="4618482" y="461010"/>
                  </a:lnTo>
                  <a:cubicBezTo>
                    <a:pt x="4618482" y="611632"/>
                    <a:pt x="4496435" y="733679"/>
                    <a:pt x="4345813" y="733679"/>
                  </a:cubicBezTo>
                  <a:lnTo>
                    <a:pt x="272669" y="733679"/>
                  </a:lnTo>
                  <a:cubicBezTo>
                    <a:pt x="122047" y="733679"/>
                    <a:pt x="0" y="611505"/>
                    <a:pt x="0" y="46101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2659" r="1" b="-72652"/>
              </a:stretch>
            </a:blipFill>
            <a:ln w="9526" cap="sq">
              <a:solidFill>
                <a:srgbClr val="FFC7CD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69194" y="880615"/>
            <a:ext cx="4014788" cy="411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2"/>
              </a:lnSpc>
            </a:pPr>
            <a:r>
              <a:rPr lang="en-US" sz="1700">
                <a:solidFill>
                  <a:srgbClr val="FFC7CD"/>
                </a:solidFill>
                <a:latin typeface="DM Sans"/>
                <a:ea typeface="DM Sans"/>
                <a:cs typeface="DM Sans"/>
                <a:sym typeface="DM Sans"/>
              </a:rPr>
              <a:t>EXPLORATORY DATA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466555"/>
            <a:ext cx="13772550" cy="90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5400">
                <a:solidFill>
                  <a:srgbClr val="9C5461"/>
                </a:solidFill>
                <a:latin typeface="DM Sans"/>
                <a:ea typeface="DM Sans"/>
                <a:cs typeface="DM Sans"/>
                <a:sym typeface="DM Sans"/>
              </a:rPr>
              <a:t>Outcome Distribution Across Startups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38" y="3088329"/>
            <a:ext cx="7811395" cy="5622579"/>
            <a:chOff x="0" y="0"/>
            <a:chExt cx="10415194" cy="7496772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415143" cy="7496810"/>
            </a:xfrm>
            <a:custGeom>
              <a:avLst/>
              <a:gdLst/>
              <a:ahLst/>
              <a:cxnLst/>
              <a:rect r="r" b="b" t="t" l="l"/>
              <a:pathLst>
                <a:path h="7496810" w="10415143">
                  <a:moveTo>
                    <a:pt x="0" y="0"/>
                  </a:moveTo>
                  <a:lnTo>
                    <a:pt x="10415143" y="0"/>
                  </a:lnTo>
                  <a:lnTo>
                    <a:pt x="10415143" y="7496810"/>
                  </a:lnTo>
                  <a:lnTo>
                    <a:pt x="0" y="74968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" r="0" b="-3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493891" y="3044581"/>
            <a:ext cx="4403084" cy="445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9C5461"/>
                </a:solidFill>
                <a:latin typeface="DM Sans"/>
                <a:ea typeface="DM Sans"/>
                <a:cs typeface="DM Sans"/>
                <a:sym typeface="DM Sans"/>
              </a:rPr>
              <a:t>Key Findings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93891" y="3679184"/>
            <a:ext cx="8725795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The dataset reveals a clear imbalance in startup outcomes: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93891" y="4369298"/>
            <a:ext cx="7811395" cy="2935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3326"/>
              </a:lnSpc>
              <a:buFont typeface="Arial"/>
              <a:buChar char="•"/>
            </a:pPr>
            <a:r>
              <a:rPr lang="en-US" b="true" sz="2100">
                <a:solidFill>
                  <a:srgbClr val="4A4A4A"/>
                </a:solidFill>
                <a:latin typeface="DM Sans Bold"/>
                <a:ea typeface="DM Sans Bold"/>
                <a:cs typeface="DM Sans Bold"/>
                <a:sym typeface="DM Sans Bold"/>
              </a:rPr>
              <a:t>Failure</a:t>
            </a:r>
            <a:r>
              <a:rPr lang="en-US" sz="21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 is the dominant outcome — the majority of startups do not survive</a:t>
            </a:r>
          </a:p>
          <a:p>
            <a:pPr algn="l" marL="506730" indent="-253365" lvl="1">
              <a:lnSpc>
                <a:spcPts val="3326"/>
              </a:lnSpc>
              <a:buFont typeface="Arial"/>
              <a:buChar char="•"/>
            </a:pPr>
            <a:r>
              <a:rPr lang="en-US" b="true" sz="2100">
                <a:solidFill>
                  <a:srgbClr val="4A4A4A"/>
                </a:solidFill>
                <a:latin typeface="DM Sans Bold"/>
                <a:ea typeface="DM Sans Bold"/>
                <a:cs typeface="DM Sans Bold"/>
                <a:sym typeface="DM Sans Bold"/>
              </a:rPr>
              <a:t>Acquisition</a:t>
            </a:r>
            <a:r>
              <a:rPr lang="en-US" sz="21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 is the second most common path, reflecting moderate success</a:t>
            </a:r>
          </a:p>
          <a:p>
            <a:pPr algn="l" marL="506730" indent="-253365" lvl="1">
              <a:lnSpc>
                <a:spcPts val="3326"/>
              </a:lnSpc>
              <a:buFont typeface="Arial"/>
              <a:buChar char="•"/>
            </a:pPr>
            <a:r>
              <a:rPr lang="en-US" b="true" sz="2100">
                <a:solidFill>
                  <a:srgbClr val="4A4A4A"/>
                </a:solidFill>
                <a:latin typeface="DM Sans Bold"/>
                <a:ea typeface="DM Sans Bold"/>
                <a:cs typeface="DM Sans Bold"/>
                <a:sym typeface="DM Sans Bold"/>
              </a:rPr>
              <a:t>IPO</a:t>
            </a:r>
            <a:r>
              <a:rPr lang="en-US" sz="21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 is the rarest outcome, achieved by only a small fraction of ventures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44216" y="828827"/>
            <a:ext cx="1872558" cy="423862"/>
            <a:chOff x="0" y="0"/>
            <a:chExt cx="2496744" cy="565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96693" cy="565150"/>
            </a:xfrm>
            <a:custGeom>
              <a:avLst/>
              <a:gdLst/>
              <a:ahLst/>
              <a:cxnLst/>
              <a:rect r="r" b="b" t="t" l="l"/>
              <a:pathLst>
                <a:path h="565150" w="2496693">
                  <a:moveTo>
                    <a:pt x="0" y="221869"/>
                  </a:moveTo>
                  <a:cubicBezTo>
                    <a:pt x="0" y="99314"/>
                    <a:pt x="99314" y="0"/>
                    <a:pt x="221869" y="0"/>
                  </a:cubicBezTo>
                  <a:lnTo>
                    <a:pt x="2274824" y="0"/>
                  </a:lnTo>
                  <a:cubicBezTo>
                    <a:pt x="2397379" y="0"/>
                    <a:pt x="2496693" y="99314"/>
                    <a:pt x="2496693" y="221869"/>
                  </a:cubicBezTo>
                  <a:lnTo>
                    <a:pt x="2496693" y="343281"/>
                  </a:lnTo>
                  <a:cubicBezTo>
                    <a:pt x="2496693" y="465836"/>
                    <a:pt x="2397379" y="565150"/>
                    <a:pt x="2274824" y="565150"/>
                  </a:cubicBezTo>
                  <a:lnTo>
                    <a:pt x="221869" y="565150"/>
                  </a:lnTo>
                  <a:cubicBezTo>
                    <a:pt x="99314" y="565150"/>
                    <a:pt x="0" y="465836"/>
                    <a:pt x="0" y="343281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081" r="-2" b="-36081"/>
              </a:stretch>
            </a:blipFill>
            <a:ln w="9526" cap="sq">
              <a:solidFill>
                <a:srgbClr val="FFC7CD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493939" y="872728"/>
            <a:ext cx="2487511" cy="297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399">
                <a:solidFill>
                  <a:srgbClr val="FFC7CD"/>
                </a:solidFill>
                <a:latin typeface="DM Sans"/>
                <a:ea typeface="DM Sans"/>
                <a:cs typeface="DM Sans"/>
                <a:sym typeface="DM Sans"/>
              </a:rPr>
              <a:t>FEATURE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8978" y="1300763"/>
            <a:ext cx="9690344" cy="724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9C5461"/>
                </a:solidFill>
                <a:latin typeface="DM Sans"/>
                <a:ea typeface="DM Sans"/>
                <a:cs typeface="DM Sans"/>
                <a:sym typeface="DM Sans"/>
              </a:rPr>
              <a:t>What Drives Startup Outcomes?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58503" y="2443010"/>
            <a:ext cx="5069834" cy="5069834"/>
            <a:chOff x="0" y="0"/>
            <a:chExt cx="6759778" cy="6759778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6759829" cy="6759829"/>
            </a:xfrm>
            <a:custGeom>
              <a:avLst/>
              <a:gdLst/>
              <a:ahLst/>
              <a:cxnLst/>
              <a:rect r="r" b="b" t="t" l="l"/>
              <a:pathLst>
                <a:path h="6759829" w="6759829">
                  <a:moveTo>
                    <a:pt x="0" y="0"/>
                  </a:moveTo>
                  <a:lnTo>
                    <a:pt x="6759829" y="0"/>
                  </a:lnTo>
                  <a:lnTo>
                    <a:pt x="6759829" y="6759829"/>
                  </a:lnTo>
                  <a:lnTo>
                    <a:pt x="0" y="6759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609007" y="2443010"/>
            <a:ext cx="5069834" cy="5069834"/>
            <a:chOff x="0" y="0"/>
            <a:chExt cx="6759778" cy="6759778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6759829" cy="6759829"/>
            </a:xfrm>
            <a:custGeom>
              <a:avLst/>
              <a:gdLst/>
              <a:ahLst/>
              <a:cxnLst/>
              <a:rect r="r" b="b" t="t" l="l"/>
              <a:pathLst>
                <a:path h="6759829" w="6759829">
                  <a:moveTo>
                    <a:pt x="0" y="0"/>
                  </a:moveTo>
                  <a:lnTo>
                    <a:pt x="6759829" y="0"/>
                  </a:lnTo>
                  <a:lnTo>
                    <a:pt x="6759829" y="6759829"/>
                  </a:lnTo>
                  <a:lnTo>
                    <a:pt x="0" y="6759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859520" y="2443010"/>
            <a:ext cx="5069834" cy="5069834"/>
            <a:chOff x="0" y="0"/>
            <a:chExt cx="6759778" cy="6759778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6759829" cy="6759829"/>
            </a:xfrm>
            <a:custGeom>
              <a:avLst/>
              <a:gdLst/>
              <a:ahLst/>
              <a:cxnLst/>
              <a:rect r="r" b="b" t="t" l="l"/>
              <a:pathLst>
                <a:path h="6759829" w="6759829">
                  <a:moveTo>
                    <a:pt x="0" y="0"/>
                  </a:moveTo>
                  <a:lnTo>
                    <a:pt x="6759829" y="0"/>
                  </a:lnTo>
                  <a:lnTo>
                    <a:pt x="6759829" y="6759829"/>
                  </a:lnTo>
                  <a:lnTo>
                    <a:pt x="0" y="6759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44216" y="7857830"/>
            <a:ext cx="15599416" cy="1600352"/>
            <a:chOff x="0" y="0"/>
            <a:chExt cx="20799222" cy="21338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799298" cy="2133854"/>
            </a:xfrm>
            <a:custGeom>
              <a:avLst/>
              <a:gdLst/>
              <a:ahLst/>
              <a:cxnLst/>
              <a:rect r="r" b="b" t="t" l="l"/>
              <a:pathLst>
                <a:path h="2133854" w="20799298">
                  <a:moveTo>
                    <a:pt x="0" y="272796"/>
                  </a:moveTo>
                  <a:cubicBezTo>
                    <a:pt x="0" y="122174"/>
                    <a:pt x="122174" y="0"/>
                    <a:pt x="272796" y="0"/>
                  </a:cubicBezTo>
                  <a:lnTo>
                    <a:pt x="20526502" y="0"/>
                  </a:lnTo>
                  <a:cubicBezTo>
                    <a:pt x="20677124" y="0"/>
                    <a:pt x="20799298" y="122174"/>
                    <a:pt x="20799298" y="272796"/>
                  </a:cubicBezTo>
                  <a:lnTo>
                    <a:pt x="20799298" y="1861058"/>
                  </a:lnTo>
                  <a:cubicBezTo>
                    <a:pt x="20799298" y="2011680"/>
                    <a:pt x="20677124" y="2133854"/>
                    <a:pt x="20526502" y="2133854"/>
                  </a:cubicBezTo>
                  <a:lnTo>
                    <a:pt x="272796" y="2133854"/>
                  </a:lnTo>
                  <a:cubicBezTo>
                    <a:pt x="122174" y="2133854"/>
                    <a:pt x="0" y="2011680"/>
                    <a:pt x="0" y="1861058"/>
                  </a:cubicBezTo>
                  <a:close/>
                </a:path>
              </a:pathLst>
            </a:custGeom>
            <a:solidFill>
              <a:srgbClr val="FFCCD1"/>
            </a:solidFill>
            <a:ln w="9526" cap="sq">
              <a:solidFill>
                <a:srgbClr val="E5B2B7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358503" y="7872117"/>
            <a:ext cx="5190230" cy="1571777"/>
            <a:chOff x="0" y="0"/>
            <a:chExt cx="6920306" cy="20957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20357" cy="2095754"/>
            </a:xfrm>
            <a:custGeom>
              <a:avLst/>
              <a:gdLst/>
              <a:ahLst/>
              <a:cxnLst/>
              <a:rect r="r" b="b" t="t" l="l"/>
              <a:pathLst>
                <a:path h="2095754" w="6920357">
                  <a:moveTo>
                    <a:pt x="0" y="0"/>
                  </a:moveTo>
                  <a:lnTo>
                    <a:pt x="6920357" y="0"/>
                  </a:lnTo>
                  <a:lnTo>
                    <a:pt x="6920357" y="2095754"/>
                  </a:lnTo>
                  <a:lnTo>
                    <a:pt x="0" y="2095754"/>
                  </a:lnTo>
                  <a:close/>
                </a:path>
              </a:pathLst>
            </a:custGeom>
            <a:solidFill>
              <a:srgbClr val="FFCCD1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584427" y="8078991"/>
            <a:ext cx="2824162" cy="38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💰</a:t>
            </a:r>
            <a:r>
              <a:rPr lang="en-US" sz="22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 Revenue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84427" y="8530380"/>
            <a:ext cx="4738392" cy="687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Higher revenue strongly correlates with IPO and Acquisition outcomes.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548733" y="7872117"/>
            <a:ext cx="5190230" cy="1571777"/>
            <a:chOff x="0" y="0"/>
            <a:chExt cx="6920306" cy="20957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20357" cy="2095754"/>
            </a:xfrm>
            <a:custGeom>
              <a:avLst/>
              <a:gdLst/>
              <a:ahLst/>
              <a:cxnLst/>
              <a:rect r="r" b="b" t="t" l="l"/>
              <a:pathLst>
                <a:path h="2095754" w="6920357">
                  <a:moveTo>
                    <a:pt x="0" y="0"/>
                  </a:moveTo>
                  <a:lnTo>
                    <a:pt x="6920357" y="0"/>
                  </a:lnTo>
                  <a:lnTo>
                    <a:pt x="6920357" y="2095754"/>
                  </a:lnTo>
                  <a:lnTo>
                    <a:pt x="0" y="2095754"/>
                  </a:lnTo>
                  <a:close/>
                </a:path>
              </a:pathLst>
            </a:custGeom>
            <a:solidFill>
              <a:srgbClr val="FFCCD1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548733" y="7872117"/>
            <a:ext cx="28575" cy="1571777"/>
            <a:chOff x="0" y="0"/>
            <a:chExt cx="38100" cy="209570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100" cy="2095754"/>
            </a:xfrm>
            <a:custGeom>
              <a:avLst/>
              <a:gdLst/>
              <a:ahLst/>
              <a:cxnLst/>
              <a:rect r="r" b="b" t="t" l="l"/>
              <a:pathLst>
                <a:path h="2095754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2076704"/>
                  </a:lnTo>
                  <a:cubicBezTo>
                    <a:pt x="38100" y="2087245"/>
                    <a:pt x="29591" y="2095754"/>
                    <a:pt x="19050" y="2095754"/>
                  </a:cubicBezTo>
                  <a:cubicBezTo>
                    <a:pt x="8509" y="2095754"/>
                    <a:pt x="0" y="2087245"/>
                    <a:pt x="0" y="2076704"/>
                  </a:cubicBezTo>
                  <a:close/>
                </a:path>
              </a:pathLst>
            </a:custGeom>
            <a:solidFill>
              <a:srgbClr val="E5B2B7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774656" y="8078991"/>
            <a:ext cx="3138488" cy="38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👤</a:t>
            </a:r>
            <a:r>
              <a:rPr lang="en-US" sz="22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 Founder Experience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74656" y="8530380"/>
            <a:ext cx="4738392" cy="687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Experienced founders are significantly more likely to achieve successful exits.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738972" y="7872117"/>
            <a:ext cx="5190230" cy="1571777"/>
            <a:chOff x="0" y="0"/>
            <a:chExt cx="6920306" cy="209570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920357" cy="2095754"/>
            </a:xfrm>
            <a:custGeom>
              <a:avLst/>
              <a:gdLst/>
              <a:ahLst/>
              <a:cxnLst/>
              <a:rect r="r" b="b" t="t" l="l"/>
              <a:pathLst>
                <a:path h="2095754" w="6920357">
                  <a:moveTo>
                    <a:pt x="0" y="0"/>
                  </a:moveTo>
                  <a:lnTo>
                    <a:pt x="6920357" y="0"/>
                  </a:lnTo>
                  <a:lnTo>
                    <a:pt x="6920357" y="2095754"/>
                  </a:lnTo>
                  <a:lnTo>
                    <a:pt x="0" y="2095754"/>
                  </a:lnTo>
                  <a:close/>
                </a:path>
              </a:pathLst>
            </a:custGeom>
            <a:solidFill>
              <a:srgbClr val="FFCCD1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738972" y="7872117"/>
            <a:ext cx="28575" cy="1571777"/>
            <a:chOff x="0" y="0"/>
            <a:chExt cx="38100" cy="20957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8100" cy="2095754"/>
            </a:xfrm>
            <a:custGeom>
              <a:avLst/>
              <a:gdLst/>
              <a:ahLst/>
              <a:cxnLst/>
              <a:rect r="r" b="b" t="t" l="l"/>
              <a:pathLst>
                <a:path h="2095754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2076704"/>
                  </a:lnTo>
                  <a:cubicBezTo>
                    <a:pt x="38100" y="2087245"/>
                    <a:pt x="29591" y="2095754"/>
                    <a:pt x="19050" y="2095754"/>
                  </a:cubicBezTo>
                  <a:cubicBezTo>
                    <a:pt x="8509" y="2095754"/>
                    <a:pt x="0" y="2087245"/>
                    <a:pt x="0" y="2076704"/>
                  </a:cubicBezTo>
                  <a:close/>
                </a:path>
              </a:pathLst>
            </a:custGeom>
            <a:solidFill>
              <a:srgbClr val="E5B2B7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1964886" y="8078991"/>
            <a:ext cx="2824162" cy="38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📈</a:t>
            </a:r>
            <a:r>
              <a:rPr lang="en-US" sz="22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 Funding Rounds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964886" y="8530380"/>
            <a:ext cx="4738392" cy="687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More funding rounds indicate investor confidence and improve survival odds.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7476" y="778221"/>
            <a:ext cx="2405805" cy="485480"/>
            <a:chOff x="0" y="0"/>
            <a:chExt cx="3207741" cy="6473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07766" cy="647319"/>
            </a:xfrm>
            <a:custGeom>
              <a:avLst/>
              <a:gdLst/>
              <a:ahLst/>
              <a:cxnLst/>
              <a:rect r="r" b="b" t="t" l="l"/>
              <a:pathLst>
                <a:path h="647319" w="3207766">
                  <a:moveTo>
                    <a:pt x="0" y="247269"/>
                  </a:moveTo>
                  <a:cubicBezTo>
                    <a:pt x="0" y="110744"/>
                    <a:pt x="110744" y="0"/>
                    <a:pt x="247269" y="0"/>
                  </a:cubicBezTo>
                  <a:lnTo>
                    <a:pt x="2960497" y="0"/>
                  </a:lnTo>
                  <a:cubicBezTo>
                    <a:pt x="3097022" y="0"/>
                    <a:pt x="3207766" y="110744"/>
                    <a:pt x="3207766" y="247269"/>
                  </a:cubicBezTo>
                  <a:lnTo>
                    <a:pt x="3207766" y="400050"/>
                  </a:lnTo>
                  <a:cubicBezTo>
                    <a:pt x="3207766" y="536575"/>
                    <a:pt x="3097022" y="647319"/>
                    <a:pt x="2960497" y="647319"/>
                  </a:cubicBezTo>
                  <a:lnTo>
                    <a:pt x="247269" y="647319"/>
                  </a:lnTo>
                  <a:cubicBezTo>
                    <a:pt x="110744" y="647319"/>
                    <a:pt x="0" y="536575"/>
                    <a:pt x="0" y="40005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557" r="0" b="-46555"/>
              </a:stretch>
            </a:blipFill>
            <a:ln w="9526" cap="sq">
              <a:solidFill>
                <a:srgbClr val="FFC7CD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53268" y="820636"/>
            <a:ext cx="2988621" cy="35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500">
                <a:solidFill>
                  <a:srgbClr val="FFC7CD"/>
                </a:solidFill>
                <a:latin typeface="DM Sans"/>
                <a:ea typeface="DM Sans"/>
                <a:cs typeface="DM Sans"/>
                <a:sym typeface="DM Sans"/>
              </a:rPr>
              <a:t>MODELING &amp; RESULTS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329776"/>
            <a:ext cx="12170273" cy="808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5"/>
              </a:lnSpc>
            </a:pPr>
            <a:r>
              <a:rPr lang="en-US" sz="4900">
                <a:solidFill>
                  <a:srgbClr val="9C5461"/>
                </a:solidFill>
                <a:latin typeface="DM Sans"/>
                <a:ea typeface="DM Sans"/>
                <a:cs typeface="DM Sans"/>
                <a:sym typeface="DM Sans"/>
              </a:rPr>
              <a:t>Machine Learning Model Comparison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38" y="2728170"/>
            <a:ext cx="7843685" cy="5645791"/>
            <a:chOff x="0" y="0"/>
            <a:chExt cx="10458247" cy="7527722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458196" cy="7527671"/>
            </a:xfrm>
            <a:custGeom>
              <a:avLst/>
              <a:gdLst/>
              <a:ahLst/>
              <a:cxnLst/>
              <a:rect r="r" b="b" t="t" l="l"/>
              <a:pathLst>
                <a:path h="7527671" w="10458196">
                  <a:moveTo>
                    <a:pt x="0" y="0"/>
                  </a:moveTo>
                  <a:lnTo>
                    <a:pt x="10458196" y="0"/>
                  </a:lnTo>
                  <a:lnTo>
                    <a:pt x="10458196" y="7527671"/>
                  </a:lnTo>
                  <a:lnTo>
                    <a:pt x="0" y="7527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" t="0" r="-9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461602" y="2690517"/>
            <a:ext cx="4070899" cy="40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9C5461"/>
                </a:solidFill>
                <a:latin typeface="DM Sans"/>
                <a:ea typeface="DM Sans"/>
                <a:cs typeface="DM Sans"/>
                <a:sym typeface="DM Sans"/>
              </a:rPr>
              <a:t>Models Evaluated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433027" y="3347590"/>
            <a:ext cx="7872260" cy="1945186"/>
          </a:xfrm>
          <a:custGeom>
            <a:avLst/>
            <a:gdLst/>
            <a:ahLst/>
            <a:cxnLst/>
            <a:rect r="r" b="b" t="t" l="l"/>
            <a:pathLst>
              <a:path h="1945186" w="7872260">
                <a:moveTo>
                  <a:pt x="0" y="0"/>
                </a:moveTo>
                <a:lnTo>
                  <a:pt x="7872260" y="0"/>
                </a:lnTo>
                <a:lnTo>
                  <a:pt x="7872260" y="1945186"/>
                </a:lnTo>
                <a:lnTo>
                  <a:pt x="0" y="19451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60" r="0" b="-159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828314" y="3619052"/>
            <a:ext cx="4478541" cy="40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Logistic Regression — 66.02%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28314" y="4190848"/>
            <a:ext cx="7195985" cy="820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Solid baseline; interpretable but limited for non-linear patterns.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433027" y="5517652"/>
            <a:ext cx="7872260" cy="1563291"/>
          </a:xfrm>
          <a:custGeom>
            <a:avLst/>
            <a:gdLst/>
            <a:ahLst/>
            <a:cxnLst/>
            <a:rect r="r" b="b" t="t" l="l"/>
            <a:pathLst>
              <a:path h="1563291" w="7872260">
                <a:moveTo>
                  <a:pt x="0" y="0"/>
                </a:moveTo>
                <a:lnTo>
                  <a:pt x="7872260" y="0"/>
                </a:lnTo>
                <a:lnTo>
                  <a:pt x="7872260" y="1563290"/>
                </a:lnTo>
                <a:lnTo>
                  <a:pt x="0" y="15632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35" r="0" b="-235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828314" y="5789114"/>
            <a:ext cx="3644656" cy="40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Decision Tree — 64.08%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28314" y="6360909"/>
            <a:ext cx="7195985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Intuitive splits but prone to overfitting on complex data.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9433027" y="7305827"/>
            <a:ext cx="7872260" cy="1945186"/>
          </a:xfrm>
          <a:custGeom>
            <a:avLst/>
            <a:gdLst/>
            <a:ahLst/>
            <a:cxnLst/>
            <a:rect r="r" b="b" t="t" l="l"/>
            <a:pathLst>
              <a:path h="1945186" w="7872260">
                <a:moveTo>
                  <a:pt x="0" y="0"/>
                </a:moveTo>
                <a:lnTo>
                  <a:pt x="7872260" y="0"/>
                </a:lnTo>
                <a:lnTo>
                  <a:pt x="7872260" y="1945186"/>
                </a:lnTo>
                <a:lnTo>
                  <a:pt x="0" y="19451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60" r="0" b="-159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828314" y="7577290"/>
            <a:ext cx="4275087" cy="40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Random Forest — 73.39% 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⭐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28314" y="8149085"/>
            <a:ext cx="7195985" cy="820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 b="true">
                <a:solidFill>
                  <a:srgbClr val="4A4A4A"/>
                </a:solidFill>
                <a:latin typeface="DM Sans Bold"/>
                <a:ea typeface="DM Sans Bold"/>
                <a:cs typeface="DM Sans Bold"/>
                <a:sym typeface="DM Sans Bold"/>
              </a:rPr>
              <a:t>Best performer.</a:t>
            </a:r>
            <a:r>
              <a:rPr lang="en-US" sz="19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 Ensemble approach reduces variance and captures feature interactions.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850238" y="821379"/>
            <a:ext cx="1497654" cy="425644"/>
            <a:chOff x="0" y="0"/>
            <a:chExt cx="1996872" cy="5675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6821" cy="567436"/>
            </a:xfrm>
            <a:custGeom>
              <a:avLst/>
              <a:gdLst/>
              <a:ahLst/>
              <a:cxnLst/>
              <a:rect r="r" b="b" t="t" l="l"/>
              <a:pathLst>
                <a:path h="567436" w="1996821">
                  <a:moveTo>
                    <a:pt x="0" y="229616"/>
                  </a:moveTo>
                  <a:cubicBezTo>
                    <a:pt x="0" y="102870"/>
                    <a:pt x="102870" y="0"/>
                    <a:pt x="229616" y="0"/>
                  </a:cubicBezTo>
                  <a:lnTo>
                    <a:pt x="1767205" y="0"/>
                  </a:lnTo>
                  <a:cubicBezTo>
                    <a:pt x="1894078" y="0"/>
                    <a:pt x="1996821" y="102870"/>
                    <a:pt x="1996821" y="229616"/>
                  </a:cubicBezTo>
                  <a:lnTo>
                    <a:pt x="1996821" y="337820"/>
                  </a:lnTo>
                  <a:cubicBezTo>
                    <a:pt x="1996821" y="464693"/>
                    <a:pt x="1893951" y="567436"/>
                    <a:pt x="1767205" y="567436"/>
                  </a:cubicBezTo>
                  <a:lnTo>
                    <a:pt x="229616" y="567436"/>
                  </a:lnTo>
                  <a:cubicBezTo>
                    <a:pt x="102870" y="567563"/>
                    <a:pt x="0" y="464693"/>
                    <a:pt x="0" y="337820"/>
                  </a:cubicBezTo>
                  <a:close/>
                </a:path>
              </a:pathLst>
            </a:custGeom>
            <a:solidFill>
              <a:srgbClr val="FFCCD1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993704" y="845496"/>
            <a:ext cx="2125113" cy="329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4"/>
              </a:lnSpc>
            </a:pPr>
            <a:r>
              <a:rPr lang="en-US" sz="15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CONCLUSION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0238" y="1308649"/>
            <a:ext cx="9445523" cy="151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65"/>
              </a:lnSpc>
            </a:pPr>
            <a:r>
              <a:rPr lang="en-US" sz="4700">
                <a:solidFill>
                  <a:srgbClr val="9C5461"/>
                </a:solidFill>
                <a:latin typeface="DM Sans"/>
                <a:ea typeface="DM Sans"/>
                <a:cs typeface="DM Sans"/>
                <a:sym typeface="DM Sans"/>
              </a:rPr>
              <a:t>Key Takeaways &amp; the Road Ahead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7850238" y="3125543"/>
            <a:ext cx="478336" cy="478336"/>
          </a:xfrm>
          <a:custGeom>
            <a:avLst/>
            <a:gdLst/>
            <a:ahLst/>
            <a:cxnLst/>
            <a:rect r="r" b="b" t="t" l="l"/>
            <a:pathLst>
              <a:path h="478336" w="478336">
                <a:moveTo>
                  <a:pt x="0" y="0"/>
                </a:moveTo>
                <a:lnTo>
                  <a:pt x="478336" y="0"/>
                </a:lnTo>
                <a:lnTo>
                  <a:pt x="478336" y="478336"/>
                </a:lnTo>
                <a:lnTo>
                  <a:pt x="0" y="4783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0587" t="0" r="-20587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580834" y="3198171"/>
            <a:ext cx="4444756" cy="38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ML Predicts Startup Outcomes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80834" y="3654771"/>
            <a:ext cx="8714927" cy="75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Machine Learning reliably classifies startup trajectories, offering investors a quantifiable risk signal.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7850238" y="4811468"/>
            <a:ext cx="478336" cy="478336"/>
          </a:xfrm>
          <a:custGeom>
            <a:avLst/>
            <a:gdLst/>
            <a:ahLst/>
            <a:cxnLst/>
            <a:rect r="r" b="b" t="t" l="l"/>
            <a:pathLst>
              <a:path h="478336" w="478336">
                <a:moveTo>
                  <a:pt x="0" y="0"/>
                </a:moveTo>
                <a:lnTo>
                  <a:pt x="478336" y="0"/>
                </a:lnTo>
                <a:lnTo>
                  <a:pt x="478336" y="478336"/>
                </a:lnTo>
                <a:lnTo>
                  <a:pt x="0" y="4783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979" r="0" b="-979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580834" y="4884096"/>
            <a:ext cx="4556817" cy="38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Random Forest Leads at 73.39%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80834" y="5340696"/>
            <a:ext cx="8714927" cy="75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Ensemble learning outperformed single-model approaches, confirming its strength for tabular business data.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7850238" y="6497393"/>
            <a:ext cx="478336" cy="478336"/>
          </a:xfrm>
          <a:custGeom>
            <a:avLst/>
            <a:gdLst/>
            <a:ahLst/>
            <a:cxnLst/>
            <a:rect r="r" b="b" t="t" l="l"/>
            <a:pathLst>
              <a:path h="478336" w="478336">
                <a:moveTo>
                  <a:pt x="0" y="0"/>
                </a:moveTo>
                <a:lnTo>
                  <a:pt x="478336" y="0"/>
                </a:lnTo>
                <a:lnTo>
                  <a:pt x="478336" y="478336"/>
                </a:lnTo>
                <a:lnTo>
                  <a:pt x="0" y="47833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979" t="0" r="-979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580834" y="6570021"/>
            <a:ext cx="6343650" cy="38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Revenue, Funding &amp; Experience Matter Most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80834" y="7026621"/>
            <a:ext cx="8714927" cy="75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These three features consistently drove prediction accuracy across all models tested.</a:t>
            </a:r>
          </a:p>
        </p:txBody>
      </p:sp>
      <p:sp>
        <p:nvSpPr>
          <p:cNvPr name="Freeform 21" id="21" descr="preencoded.png"/>
          <p:cNvSpPr/>
          <p:nvPr/>
        </p:nvSpPr>
        <p:spPr>
          <a:xfrm flipH="false" flipV="false" rot="0">
            <a:off x="7850238" y="8183318"/>
            <a:ext cx="478336" cy="478336"/>
          </a:xfrm>
          <a:custGeom>
            <a:avLst/>
            <a:gdLst/>
            <a:ahLst/>
            <a:cxnLst/>
            <a:rect r="r" b="b" t="t" l="l"/>
            <a:pathLst>
              <a:path h="478336" w="478336">
                <a:moveTo>
                  <a:pt x="0" y="0"/>
                </a:moveTo>
                <a:lnTo>
                  <a:pt x="478336" y="0"/>
                </a:lnTo>
                <a:lnTo>
                  <a:pt x="478336" y="478336"/>
                </a:lnTo>
                <a:lnTo>
                  <a:pt x="0" y="47833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34313" r="0" b="-34313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8580834" y="8255946"/>
            <a:ext cx="2990402" cy="38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Future Directions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580834" y="8712546"/>
            <a:ext cx="8714927" cy="75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Incorporate real-time market data, experiment with XGBoost or neural networks, and address class imbalance with SMOTE.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DAHM5BywRs8</dc:identifier>
  <dcterms:modified xsi:type="dcterms:W3CDTF">2011-08-01T06:04:30Z</dcterms:modified>
  <cp:revision>1</cp:revision>
  <dc:title>Startup-Success-Prediction-Using-Machine-Learning.pptx</dc:title>
</cp:coreProperties>
</file>